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qif Reza" userId="fe75a8397c4089eb" providerId="LiveId" clId="{11450FCA-C6D2-4F98-A177-FFFADDA7FEA7}"/>
    <pc:docChg chg="custSel modSld">
      <pc:chgData name="Aqif Reza" userId="fe75a8397c4089eb" providerId="LiveId" clId="{11450FCA-C6D2-4F98-A177-FFFADDA7FEA7}" dt="2026-08-18T19:31:23.859" v="9" actId="14100"/>
      <pc:docMkLst>
        <pc:docMk/>
      </pc:docMkLst>
      <pc:sldChg chg="addSp delSp modSp mod delAnim modAnim">
        <pc:chgData name="Aqif Reza" userId="fe75a8397c4089eb" providerId="LiveId" clId="{11450FCA-C6D2-4F98-A177-FFFADDA7FEA7}" dt="2026-08-18T19:31:23.859" v="9" actId="14100"/>
        <pc:sldMkLst>
          <pc:docMk/>
          <pc:sldMk cId="0" sldId="264"/>
        </pc:sldMkLst>
        <pc:picChg chg="add mod">
          <ac:chgData name="Aqif Reza" userId="fe75a8397c4089eb" providerId="LiveId" clId="{11450FCA-C6D2-4F98-A177-FFFADDA7FEA7}" dt="2026-08-18T19:31:23.859" v="9" actId="14100"/>
          <ac:picMkLst>
            <pc:docMk/>
            <pc:sldMk cId="0" sldId="264"/>
            <ac:picMk id="9" creationId="{1D765593-8404-4B87-AD89-75EB1C74595F}"/>
          </ac:picMkLst>
        </pc:picChg>
        <pc:picChg chg="del">
          <ac:chgData name="Aqif Reza" userId="fe75a8397c4089eb" providerId="LiveId" clId="{11450FCA-C6D2-4F98-A177-FFFADDA7FEA7}" dt="2026-08-18T19:29:43.128" v="0" actId="21"/>
          <ac:picMkLst>
            <pc:docMk/>
            <pc:sldMk cId="0" sldId="264"/>
            <ac:picMk id="15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2624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HOOK (say this before anything else — not "good morning"):
"Imagine you're trapped inside a six-room mansion. You have no map, your health is limited, and the only way out is hidden behind two puzzles."
"We turned that scenario into a C program."
Then introduce the team and move into the game concept.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STRUCTURES? We needed each room to store its exits, item, puzzle and ghost state together, and each player to keep name/health/score/location/inventory in one place. That's exactly what typedef struct gives 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payoff of the presentation — walk through it as a story, not a menu tour. Only demonstrate this exact sequence; don't show every option. End on the ESCAPED message.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line: deliver 'Did you escape?' with a small pause before 'Thank you' — let it land as the button on the story, not a generic sign-off.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6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75895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ACACA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ESCAPING THE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ACACA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HAUNTED MANSION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457200" y="2148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D9B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Text-Based Adventure Game in C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25420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"Six rooms. Two puzzles. One way out."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3063240"/>
            <a:ext cx="5212080" cy="457200"/>
          </a:xfrm>
          <a:prstGeom prst="roundRect">
            <a:avLst>
              <a:gd name="adj" fmla="val 12000"/>
            </a:avLst>
          </a:prstGeom>
          <a:solidFill>
            <a:srgbClr val="1C0E0D"/>
          </a:solidFill>
          <a:ln w="15875">
            <a:solidFill>
              <a:srgbClr val="9A3A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0632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2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CSE115 – Programming Language 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611880"/>
            <a:ext cx="5212080" cy="621792"/>
          </a:xfrm>
          <a:prstGeom prst="roundRect">
            <a:avLst>
              <a:gd name="adj" fmla="val 8824"/>
            </a:avLst>
          </a:prstGeom>
          <a:solidFill>
            <a:srgbClr val="1C0E0D"/>
          </a:solidFill>
          <a:ln w="15875">
            <a:solidFill>
              <a:srgbClr val="9A3A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639312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DB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To:  </a:t>
            </a:r>
            <a:r>
              <a:rPr lang="en-US" sz="1400" b="1" dirty="0">
                <a:solidFill>
                  <a:srgbClr val="F2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Shifat-E-Rabbi
</a:t>
            </a:r>
            <a:r>
              <a:rPr lang="en-US" sz="1400" dirty="0">
                <a:solidFill>
                  <a:srgbClr val="BDB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Electrical and Computer Engineering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006840" y="594360"/>
            <a:ext cx="2697480" cy="2697480"/>
          </a:xfrm>
          <a:prstGeom prst="ellipse">
            <a:avLst/>
          </a:prstGeom>
          <a:solidFill>
            <a:srgbClr val="1C0E0D"/>
          </a:solidFill>
          <a:ln w="25400">
            <a:solidFill>
              <a:srgbClr val="9A3A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06839" y="313899"/>
            <a:ext cx="2727656" cy="31333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 algn="ctr"/>
            <a:r>
              <a:rPr lang="en-US" sz="6200" dirty="0">
                <a:solidFill>
                  <a:prstClr val="white">
                    <a:lumMod val="95000"/>
                  </a:prstClr>
                </a:solidFill>
              </a:rPr>
              <a:t>🏚</a:t>
            </a:r>
            <a:r>
              <a:rPr lang="en-US" sz="6600" dirty="0">
                <a:solidFill>
                  <a:prstClr val="white">
                    <a:lumMod val="95000"/>
                  </a:prstClr>
                </a:solidFill>
              </a:rPr>
              <a:t>👻</a:t>
            </a:r>
          </a:p>
        </p:txBody>
      </p:sp>
      <p:sp>
        <p:nvSpPr>
          <p:cNvPr id="11" name="Shape 9"/>
          <p:cNvSpPr/>
          <p:nvPr/>
        </p:nvSpPr>
        <p:spPr>
          <a:xfrm>
            <a:off x="457200" y="4434840"/>
            <a:ext cx="11277295" cy="0"/>
          </a:xfrm>
          <a:prstGeom prst="line">
            <a:avLst/>
          </a:prstGeom>
          <a:noFill/>
          <a:ln w="12700">
            <a:solidFill>
              <a:srgbClr val="3A24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5902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R E S E N T E R   O R D E 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937760"/>
            <a:ext cx="3667658" cy="566928"/>
          </a:xfrm>
          <a:prstGeom prst="roundRect">
            <a:avLst>
              <a:gd name="adj" fmla="val 9677"/>
            </a:avLst>
          </a:prstGeom>
          <a:solidFill>
            <a:srgbClr val="1C0E0D"/>
          </a:solidFill>
          <a:ln w="15875">
            <a:solidFill>
              <a:srgbClr val="9A3A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4937760"/>
            <a:ext cx="502920" cy="566928"/>
          </a:xfrm>
          <a:prstGeom prst="roundRect">
            <a:avLst>
              <a:gd name="adj" fmla="val 10909"/>
            </a:avLst>
          </a:prstGeom>
          <a:solidFill>
            <a:srgbClr val="72101E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937760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97280" y="4937760"/>
            <a:ext cx="289041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2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Syed Mohammad Aqif Reza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262018" y="4937760"/>
            <a:ext cx="3667658" cy="566928"/>
          </a:xfrm>
          <a:prstGeom prst="roundRect">
            <a:avLst>
              <a:gd name="adj" fmla="val 9677"/>
            </a:avLst>
          </a:prstGeom>
          <a:solidFill>
            <a:srgbClr val="1C0E0D"/>
          </a:solidFill>
          <a:ln w="15875">
            <a:solidFill>
              <a:srgbClr val="9A3A4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62018" y="4937760"/>
            <a:ext cx="502920" cy="566928"/>
          </a:xfrm>
          <a:prstGeom prst="roundRect">
            <a:avLst>
              <a:gd name="adj" fmla="val 10909"/>
            </a:avLst>
          </a:prstGeom>
          <a:solidFill>
            <a:srgbClr val="72101E"/>
          </a:solidFill>
          <a:ln/>
        </p:spPr>
      </p:sp>
      <p:sp>
        <p:nvSpPr>
          <p:cNvPr id="19" name="Text 17"/>
          <p:cNvSpPr/>
          <p:nvPr/>
        </p:nvSpPr>
        <p:spPr>
          <a:xfrm>
            <a:off x="4262018" y="4937760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902098" y="4937760"/>
            <a:ext cx="289041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2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Humayra Mahjuba Zaman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066837" y="4937760"/>
            <a:ext cx="3667658" cy="566928"/>
          </a:xfrm>
          <a:prstGeom prst="roundRect">
            <a:avLst>
              <a:gd name="adj" fmla="val 9677"/>
            </a:avLst>
          </a:prstGeom>
          <a:solidFill>
            <a:srgbClr val="1C0E0D"/>
          </a:solidFill>
          <a:ln w="15875">
            <a:solidFill>
              <a:srgbClr val="9A3A4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66837" y="4937760"/>
            <a:ext cx="502920" cy="566928"/>
          </a:xfrm>
          <a:prstGeom prst="roundRect">
            <a:avLst>
              <a:gd name="adj" fmla="val 10909"/>
            </a:avLst>
          </a:prstGeom>
          <a:solidFill>
            <a:srgbClr val="72101E"/>
          </a:solidFill>
          <a:ln/>
        </p:spPr>
      </p:sp>
      <p:sp>
        <p:nvSpPr>
          <p:cNvPr id="23" name="Text 21"/>
          <p:cNvSpPr/>
          <p:nvPr/>
        </p:nvSpPr>
        <p:spPr>
          <a:xfrm>
            <a:off x="8066837" y="4937760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706917" y="4937760"/>
            <a:ext cx="289041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2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Tilika Biswas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112772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CSE115 | SECTION 4 | Group - 1 | Syed Mohammad Aqif Reza (2622644042) | </a:t>
            </a:r>
            <a:r>
              <a:rPr lang="en-US" sz="1200" dirty="0" err="1">
                <a:solidFill>
                  <a:srgbClr val="8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Tilika</a:t>
            </a:r>
            <a:r>
              <a:rPr lang="en-US" sz="1200" dirty="0">
                <a:solidFill>
                  <a:srgbClr val="8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Biswas (2621946042) | </a:t>
            </a:r>
            <a:r>
              <a:rPr lang="en-US" sz="1200" dirty="0" err="1">
                <a:solidFill>
                  <a:srgbClr val="8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Humayra</a:t>
            </a:r>
            <a:r>
              <a:rPr lang="en-US" sz="1200" dirty="0">
                <a:solidFill>
                  <a:srgbClr val="8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8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Mahjuba</a:t>
            </a:r>
            <a:r>
              <a:rPr lang="en-US" sz="1200" dirty="0">
                <a:solidFill>
                  <a:srgbClr val="8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Zaman (2621387042)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6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810512" cy="384048"/>
          </a:xfrm>
          <a:prstGeom prst="roundRect">
            <a:avLst>
              <a:gd name="adj" fmla="val 19048"/>
            </a:avLst>
          </a:prstGeom>
          <a:solidFill>
            <a:srgbClr val="72101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810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CONCEPT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095183" y="320040"/>
            <a:ext cx="3639312" cy="384048"/>
          </a:xfrm>
          <a:prstGeom prst="roundRect">
            <a:avLst>
              <a:gd name="adj" fmla="val 50000"/>
            </a:avLst>
          </a:prstGeom>
          <a:solidFill>
            <a:srgbClr val="1C0E0D"/>
          </a:solidFill>
          <a:ln w="12700">
            <a:solidFill>
              <a:srgbClr val="B98B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95183" y="320040"/>
            <a:ext cx="3639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DB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 </a:t>
            </a:r>
            <a:r>
              <a:rPr lang="en-US" sz="1200" b="1" dirty="0">
                <a:solidFill>
                  <a:srgbClr val="D9B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Syed Mohammad Aqif Reza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685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🗺️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143000" y="777240"/>
            <a:ext cx="105914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2EEE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 Concept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1444752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DB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connected rooms, one clear objective, and a loop that repeats until you escape — or don't.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901952"/>
            <a:ext cx="3667658" cy="502920"/>
          </a:xfrm>
          <a:prstGeom prst="roundRect">
            <a:avLst>
              <a:gd name="adj" fmla="val 10909"/>
            </a:avLst>
          </a:prstGeom>
          <a:solidFill>
            <a:srgbClr val="1C0E0D"/>
          </a:solidFill>
          <a:ln w="15875">
            <a:solidFill>
              <a:srgbClr val="9A3A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901952"/>
            <a:ext cx="33933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🕹️  </a:t>
            </a:r>
            <a:r>
              <a:rPr lang="en-US" sz="1200" b="1" dirty="0">
                <a:solidFill>
                  <a:srgbClr val="F2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Genre: </a:t>
            </a:r>
            <a:r>
              <a:rPr lang="en-US" sz="1200" dirty="0">
                <a:solidFill>
                  <a:srgbClr val="BDB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Text-Based Interactive Adventure Game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62018" y="1901952"/>
            <a:ext cx="3667658" cy="502920"/>
          </a:xfrm>
          <a:prstGeom prst="roundRect">
            <a:avLst>
              <a:gd name="adj" fmla="val 10909"/>
            </a:avLst>
          </a:prstGeom>
          <a:solidFill>
            <a:srgbClr val="1C0E0D"/>
          </a:solidFill>
          <a:ln w="15875">
            <a:solidFill>
              <a:srgbClr val="9A3A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99178" y="1901952"/>
            <a:ext cx="33933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</a:t>
            </a:r>
            <a:r>
              <a:rPr lang="en-US" sz="1200" b="1" dirty="0">
                <a:solidFill>
                  <a:srgbClr val="F2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Language: </a:t>
            </a:r>
            <a:r>
              <a:rPr lang="en-US" sz="1200" dirty="0">
                <a:solidFill>
                  <a:srgbClr val="BDB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Programming Language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66837" y="1901952"/>
            <a:ext cx="3667658" cy="502920"/>
          </a:xfrm>
          <a:prstGeom prst="roundRect">
            <a:avLst>
              <a:gd name="adj" fmla="val 10909"/>
            </a:avLst>
          </a:prstGeom>
          <a:solidFill>
            <a:srgbClr val="1C0E0D"/>
          </a:solidFill>
          <a:ln w="15875">
            <a:solidFill>
              <a:srgbClr val="B98B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03997" y="1901952"/>
            <a:ext cx="33933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</a:t>
            </a:r>
            <a:r>
              <a:rPr lang="en-US" sz="1200" b="1" dirty="0">
                <a:solidFill>
                  <a:srgbClr val="F2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Loop: </a:t>
            </a:r>
            <a:r>
              <a:rPr lang="en-US" sz="1200" dirty="0">
                <a:solidFill>
                  <a:srgbClr val="BDB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→ Collect → Solve → Survive → Escape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542032"/>
            <a:ext cx="11277295" cy="658368"/>
          </a:xfrm>
          <a:prstGeom prst="roundRect">
            <a:avLst>
              <a:gd name="adj" fmla="val 8333"/>
            </a:avLst>
          </a:prstGeom>
          <a:solidFill>
            <a:srgbClr val="1C0E0D"/>
          </a:solidFill>
          <a:ln w="15875">
            <a:solidFill>
              <a:srgbClr val="9A3A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606040"/>
            <a:ext cx="10911535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/>
            <a:r>
              <a:rPr lang="en-US" sz="1400" i="1" dirty="0">
                <a:solidFill>
                  <a:srgbClr val="F2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Explore six rooms, solve two puzzles, survive the ghosts, and return to the Entrance Hall with the Master Key.</a:t>
            </a:r>
            <a:endParaRPr lang="en-US" sz="1400" dirty="0">
              <a:solidFill>
                <a:prstClr val="black"/>
              </a:solidFill>
            </a:endParaRPr>
          </a:p>
          <a:p>
            <a:pPr marL="0" indent="0">
              <a:buNone/>
            </a:pP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3649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A M E   F L O W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639312"/>
            <a:ext cx="1765249" cy="1051560"/>
          </a:xfrm>
          <a:prstGeom prst="roundRect">
            <a:avLst>
              <a:gd name="adj" fmla="val 5217"/>
            </a:avLst>
          </a:prstGeom>
          <a:solidFill>
            <a:srgbClr val="1C0E0D"/>
          </a:solidFill>
          <a:ln w="15875">
            <a:solidFill>
              <a:srgbClr val="9A3A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730752"/>
            <a:ext cx="1765249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🚪</a:t>
            </a:r>
          </a:p>
        </p:txBody>
      </p:sp>
      <p:sp>
        <p:nvSpPr>
          <p:cNvPr id="20" name="Text 18"/>
          <p:cNvSpPr/>
          <p:nvPr/>
        </p:nvSpPr>
        <p:spPr>
          <a:xfrm>
            <a:off x="457200" y="4187952"/>
            <a:ext cx="1765249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Entrance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2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317775" y="3639312"/>
            <a:ext cx="1765249" cy="1051560"/>
          </a:xfrm>
          <a:prstGeom prst="roundRect">
            <a:avLst>
              <a:gd name="adj" fmla="val 5217"/>
            </a:avLst>
          </a:prstGeom>
          <a:solidFill>
            <a:srgbClr val="1C0E0D"/>
          </a:solidFill>
          <a:ln w="15875">
            <a:solidFill>
              <a:srgbClr val="9A3A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59609" y="3730752"/>
            <a:ext cx="1765249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600" dirty="0">
                <a:solidFill>
                  <a:schemeClr val="bg1">
                    <a:lumMod val="85000"/>
                  </a:schemeClr>
                </a:solidFill>
              </a:rPr>
              <a:t>🛋</a:t>
            </a:r>
          </a:p>
        </p:txBody>
      </p:sp>
      <p:sp>
        <p:nvSpPr>
          <p:cNvPr id="23" name="Text 21"/>
          <p:cNvSpPr/>
          <p:nvPr/>
        </p:nvSpPr>
        <p:spPr>
          <a:xfrm>
            <a:off x="2359609" y="4187952"/>
            <a:ext cx="1765249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2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262018" y="3639312"/>
            <a:ext cx="1765249" cy="1051560"/>
          </a:xfrm>
          <a:prstGeom prst="roundRect">
            <a:avLst>
              <a:gd name="adj" fmla="val 5217"/>
            </a:avLst>
          </a:prstGeom>
          <a:solidFill>
            <a:srgbClr val="1C0E0D"/>
          </a:solidFill>
          <a:ln w="15875">
            <a:solidFill>
              <a:srgbClr val="9A3A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62018" y="3730752"/>
            <a:ext cx="1765249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🔪</a:t>
            </a:r>
          </a:p>
        </p:txBody>
      </p:sp>
      <p:sp>
        <p:nvSpPr>
          <p:cNvPr id="26" name="Text 24"/>
          <p:cNvSpPr/>
          <p:nvPr/>
        </p:nvSpPr>
        <p:spPr>
          <a:xfrm>
            <a:off x="4262018" y="4187952"/>
            <a:ext cx="1765249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164428" y="3639312"/>
            <a:ext cx="1765249" cy="1051560"/>
          </a:xfrm>
          <a:prstGeom prst="roundRect">
            <a:avLst>
              <a:gd name="adj" fmla="val 5217"/>
            </a:avLst>
          </a:prstGeom>
          <a:solidFill>
            <a:srgbClr val="1C0E0D"/>
          </a:solidFill>
          <a:ln w="15875">
            <a:solidFill>
              <a:srgbClr val="B98B4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64428" y="3730752"/>
            <a:ext cx="1765249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📚</a:t>
            </a:r>
          </a:p>
        </p:txBody>
      </p:sp>
      <p:sp>
        <p:nvSpPr>
          <p:cNvPr id="29" name="Text 27"/>
          <p:cNvSpPr/>
          <p:nvPr/>
        </p:nvSpPr>
        <p:spPr>
          <a:xfrm>
            <a:off x="6164428" y="4187952"/>
            <a:ext cx="1765249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066837" y="3639312"/>
            <a:ext cx="1765249" cy="1051560"/>
          </a:xfrm>
          <a:prstGeom prst="roundRect">
            <a:avLst>
              <a:gd name="adj" fmla="val 5217"/>
            </a:avLst>
          </a:prstGeom>
          <a:solidFill>
            <a:srgbClr val="1C0E0D"/>
          </a:solidFill>
          <a:ln w="15875">
            <a:solidFill>
              <a:srgbClr val="9A3A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66837" y="3730752"/>
            <a:ext cx="1765249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🔦</a:t>
            </a:r>
          </a:p>
        </p:txBody>
      </p:sp>
      <p:sp>
        <p:nvSpPr>
          <p:cNvPr id="32" name="Text 30"/>
          <p:cNvSpPr/>
          <p:nvPr/>
        </p:nvSpPr>
        <p:spPr>
          <a:xfrm>
            <a:off x="8066837" y="4187952"/>
            <a:ext cx="1765249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Basement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969246" y="3639312"/>
            <a:ext cx="1765249" cy="1051560"/>
          </a:xfrm>
          <a:prstGeom prst="roundRect">
            <a:avLst>
              <a:gd name="adj" fmla="val 5217"/>
            </a:avLst>
          </a:prstGeom>
          <a:solidFill>
            <a:srgbClr val="1C0E0D"/>
          </a:solidFill>
          <a:ln w="15875">
            <a:solidFill>
              <a:srgbClr val="4C8C5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969246" y="3730752"/>
            <a:ext cx="1765249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🔑</a:t>
            </a:r>
          </a:p>
        </p:txBody>
      </p:sp>
      <p:sp>
        <p:nvSpPr>
          <p:cNvPr id="35" name="Text 33"/>
          <p:cNvSpPr/>
          <p:nvPr/>
        </p:nvSpPr>
        <p:spPr>
          <a:xfrm>
            <a:off x="9969246" y="4187952"/>
            <a:ext cx="1765249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2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Chamber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57200" y="4892040"/>
            <a:ext cx="11277295" cy="1051560"/>
          </a:xfrm>
          <a:prstGeom prst="roundRect">
            <a:avLst>
              <a:gd name="adj" fmla="val 5217"/>
            </a:avLst>
          </a:prstGeom>
          <a:solidFill>
            <a:srgbClr val="1C0E0D"/>
          </a:solidFill>
          <a:ln w="15875">
            <a:solidFill>
              <a:srgbClr val="9A3A4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4983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GAMEPLAY ELEMENTS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40080" y="5321808"/>
            <a:ext cx="1480414" cy="457200"/>
          </a:xfrm>
          <a:prstGeom prst="roundRect">
            <a:avLst>
              <a:gd name="adj" fmla="val 50000"/>
            </a:avLst>
          </a:prstGeom>
          <a:solidFill>
            <a:srgbClr val="241412"/>
          </a:solidFill>
          <a:ln w="12700">
            <a:solidFill>
              <a:srgbClr val="9A3A4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5800" y="5321808"/>
            <a:ext cx="138897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chemeClr val="bg1">
                    <a:lumMod val="85000"/>
                  </a:schemeClr>
                </a:solidFill>
              </a:rPr>
              <a:t>🚶</a:t>
            </a:r>
            <a:r>
              <a:rPr lang="en-US" sz="1000" dirty="0"/>
              <a:t> </a:t>
            </a:r>
            <a:r>
              <a:rPr lang="en-US" sz="1000" dirty="0">
                <a:solidFill>
                  <a:srgbClr val="F2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211934" y="5321808"/>
            <a:ext cx="1480414" cy="457200"/>
          </a:xfrm>
          <a:prstGeom prst="roundRect">
            <a:avLst>
              <a:gd name="adj" fmla="val 50000"/>
            </a:avLst>
          </a:prstGeom>
          <a:solidFill>
            <a:srgbClr val="241412"/>
          </a:solidFill>
          <a:ln w="12700">
            <a:solidFill>
              <a:srgbClr val="9A3A4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257654" y="5321808"/>
            <a:ext cx="138897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2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🎒 Item Collection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783787" y="5321808"/>
            <a:ext cx="1480414" cy="457200"/>
          </a:xfrm>
          <a:prstGeom prst="roundRect">
            <a:avLst>
              <a:gd name="adj" fmla="val 50000"/>
            </a:avLst>
          </a:prstGeom>
          <a:solidFill>
            <a:srgbClr val="241412"/>
          </a:solidFill>
          <a:ln w="12700">
            <a:solidFill>
              <a:srgbClr val="9A3A4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29507" y="5321808"/>
            <a:ext cx="138897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2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Inventory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355641" y="5321808"/>
            <a:ext cx="1480414" cy="457200"/>
          </a:xfrm>
          <a:prstGeom prst="roundRect">
            <a:avLst>
              <a:gd name="adj" fmla="val 50000"/>
            </a:avLst>
          </a:prstGeom>
          <a:solidFill>
            <a:srgbClr val="241412"/>
          </a:solidFill>
          <a:ln w="12700">
            <a:solidFill>
              <a:srgbClr val="9A3A4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01361" y="5321808"/>
            <a:ext cx="138897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chemeClr val="bg1">
                    <a:lumMod val="85000"/>
                  </a:schemeClr>
                </a:solidFill>
              </a:rPr>
              <a:t>🔐</a:t>
            </a:r>
            <a:r>
              <a:rPr lang="en-US" sz="1000" dirty="0">
                <a:solidFill>
                  <a:srgbClr val="F2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Puzzles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927494" y="5321808"/>
            <a:ext cx="1480414" cy="457200"/>
          </a:xfrm>
          <a:prstGeom prst="roundRect">
            <a:avLst>
              <a:gd name="adj" fmla="val 50000"/>
            </a:avLst>
          </a:prstGeom>
          <a:solidFill>
            <a:srgbClr val="241412"/>
          </a:solidFill>
          <a:ln w="12700">
            <a:solidFill>
              <a:srgbClr val="9A3A4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73214" y="5321808"/>
            <a:ext cx="138897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2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👻 Ghost Encounters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8499348" y="5321808"/>
            <a:ext cx="1480414" cy="457200"/>
          </a:xfrm>
          <a:prstGeom prst="roundRect">
            <a:avLst>
              <a:gd name="adj" fmla="val 50000"/>
            </a:avLst>
          </a:prstGeom>
          <a:solidFill>
            <a:srgbClr val="241412"/>
          </a:solidFill>
          <a:ln w="12700">
            <a:solidFill>
              <a:srgbClr val="9A3A4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545068" y="5321808"/>
            <a:ext cx="138897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2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❤️ Health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10071202" y="5321808"/>
            <a:ext cx="1480414" cy="457200"/>
          </a:xfrm>
          <a:prstGeom prst="roundRect">
            <a:avLst>
              <a:gd name="adj" fmla="val 50000"/>
            </a:avLst>
          </a:prstGeom>
          <a:solidFill>
            <a:srgbClr val="241412"/>
          </a:solidFill>
          <a:ln w="12700">
            <a:solidFill>
              <a:srgbClr val="9A3A4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116922" y="5321808"/>
            <a:ext cx="138897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2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🚪 Escape Objective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57200" y="6492240"/>
            <a:ext cx="112772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CSE115 | SECTION 4 | Group - 1 | Syed Mohammad Aqif Reza (2622644042) | Tilika Biswas (2621946042) | Humayra Mahjuba Zaman (2621387042)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6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810512" cy="384048"/>
          </a:xfrm>
          <a:prstGeom prst="roundRect">
            <a:avLst>
              <a:gd name="adj" fmla="val 19048"/>
            </a:avLst>
          </a:prstGeom>
          <a:solidFill>
            <a:srgbClr val="72101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810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095183" y="320040"/>
            <a:ext cx="3639312" cy="384048"/>
          </a:xfrm>
          <a:prstGeom prst="roundRect">
            <a:avLst>
              <a:gd name="adj" fmla="val 50000"/>
            </a:avLst>
          </a:prstGeom>
          <a:solidFill>
            <a:srgbClr val="1C0E0D"/>
          </a:solidFill>
          <a:ln w="12700">
            <a:solidFill>
              <a:srgbClr val="B98B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95183" y="320040"/>
            <a:ext cx="3639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DB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 </a:t>
            </a:r>
            <a:r>
              <a:rPr lang="en-US" sz="1200" b="1" dirty="0">
                <a:solidFill>
                  <a:srgbClr val="D9B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Syed Mohammad Aqif Reza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685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🧭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143000" y="777240"/>
            <a:ext cx="105914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2EEE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the Game Works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1444752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BDB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depends on required items, puzzle solutions, health, and player decisions.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1920240"/>
            <a:ext cx="55014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FC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R O G R E S S I O N   P A T 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33008" y="1920240"/>
            <a:ext cx="55014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A N G E R   P A T 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249424"/>
            <a:ext cx="5501488" cy="457200"/>
          </a:xfrm>
          <a:prstGeom prst="roundRect">
            <a:avLst>
              <a:gd name="adj" fmla="val 12000"/>
            </a:avLst>
          </a:prstGeom>
          <a:solidFill>
            <a:srgbClr val="1C0E0D"/>
          </a:solidFill>
          <a:ln w="15875">
            <a:solidFill>
              <a:srgbClr val="9A3A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249424"/>
            <a:ext cx="5501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→ Entrance Hall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5501488" cy="457200"/>
          </a:xfrm>
          <a:prstGeom prst="roundRect">
            <a:avLst>
              <a:gd name="adj" fmla="val 12000"/>
            </a:avLst>
          </a:prstGeom>
          <a:solidFill>
            <a:srgbClr val="1C0E0D"/>
          </a:solidFill>
          <a:ln w="15875">
            <a:solidFill>
              <a:srgbClr val="9A3A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834640"/>
            <a:ext cx="5501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&amp; Collect Flashlight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419856"/>
            <a:ext cx="5501488" cy="457200"/>
          </a:xfrm>
          <a:prstGeom prst="roundRect">
            <a:avLst>
              <a:gd name="adj" fmla="val 12000"/>
            </a:avLst>
          </a:prstGeom>
          <a:solidFill>
            <a:srgbClr val="1C0E0D"/>
          </a:solidFill>
          <a:ln w="15875">
            <a:solidFill>
              <a:srgbClr val="B98B4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419856"/>
            <a:ext cx="5501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Library Puzzle → Silver Key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005072"/>
            <a:ext cx="5501488" cy="457200"/>
          </a:xfrm>
          <a:prstGeom prst="roundRect">
            <a:avLst>
              <a:gd name="adj" fmla="val 12000"/>
            </a:avLst>
          </a:prstGeom>
          <a:solidFill>
            <a:srgbClr val="1C0E0D"/>
          </a:solidFill>
          <a:ln w="15875">
            <a:solidFill>
              <a:srgbClr val="9A3A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005072"/>
            <a:ext cx="5501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Basement &amp; Secret Chamber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590288"/>
            <a:ext cx="5501488" cy="457200"/>
          </a:xfrm>
          <a:prstGeom prst="roundRect">
            <a:avLst>
              <a:gd name="adj" fmla="val 12000"/>
            </a:avLst>
          </a:prstGeom>
          <a:solidFill>
            <a:srgbClr val="1C0E0D"/>
          </a:solidFill>
          <a:ln w="15875">
            <a:solidFill>
              <a:srgbClr val="B98B4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590288"/>
            <a:ext cx="5501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Chamber Puzzle → Master Key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5175504"/>
            <a:ext cx="5501488" cy="457200"/>
          </a:xfrm>
          <a:prstGeom prst="roundRect">
            <a:avLst>
              <a:gd name="adj" fmla="val 12000"/>
            </a:avLst>
          </a:prstGeom>
          <a:solidFill>
            <a:srgbClr val="1C0E0D"/>
          </a:solidFill>
          <a:ln w="15875">
            <a:solidFill>
              <a:srgbClr val="9A3A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5175504"/>
            <a:ext cx="5501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to Entrance Hall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5760720"/>
            <a:ext cx="5501488" cy="457200"/>
          </a:xfrm>
          <a:prstGeom prst="roundRect">
            <a:avLst>
              <a:gd name="adj" fmla="val 12000"/>
            </a:avLst>
          </a:prstGeom>
          <a:solidFill>
            <a:srgbClr val="1C0E0D"/>
          </a:solidFill>
          <a:ln w="15875">
            <a:solidFill>
              <a:srgbClr val="4C8C5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5760720"/>
            <a:ext cx="5501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WIN — Escape the Mansion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33008" y="2249424"/>
            <a:ext cx="5501488" cy="457200"/>
          </a:xfrm>
          <a:prstGeom prst="roundRect">
            <a:avLst>
              <a:gd name="adj" fmla="val 12000"/>
            </a:avLst>
          </a:prstGeom>
          <a:solidFill>
            <a:srgbClr val="1C0E0D"/>
          </a:solidFill>
          <a:ln w="15875">
            <a:solidFill>
              <a:srgbClr val="9A3A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33008" y="2249424"/>
            <a:ext cx="5501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👻  Ghost Encounter — Kitchen / Basement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33008" y="2834640"/>
            <a:ext cx="5501488" cy="457200"/>
          </a:xfrm>
          <a:prstGeom prst="roundRect">
            <a:avLst>
              <a:gd name="adj" fmla="val 12000"/>
            </a:avLst>
          </a:prstGeom>
          <a:solidFill>
            <a:srgbClr val="1C0E0D"/>
          </a:solidFill>
          <a:ln w="15875">
            <a:solidFill>
              <a:srgbClr val="9A3A4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33008" y="2834640"/>
            <a:ext cx="5501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Decreases (Random Damage)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33008" y="3419856"/>
            <a:ext cx="5501488" cy="457200"/>
          </a:xfrm>
          <a:prstGeom prst="roundRect">
            <a:avLst>
              <a:gd name="adj" fmla="val 12000"/>
            </a:avLst>
          </a:prstGeom>
          <a:solidFill>
            <a:srgbClr val="1C0E0D"/>
          </a:solidFill>
          <a:ln w="15875">
            <a:solidFill>
              <a:srgbClr val="B98B4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33008" y="3419856"/>
            <a:ext cx="5501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Medicine (+20) or Med Kit (+35)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33008" y="4005072"/>
            <a:ext cx="5501488" cy="457200"/>
          </a:xfrm>
          <a:prstGeom prst="roundRect">
            <a:avLst>
              <a:gd name="adj" fmla="val 12000"/>
            </a:avLst>
          </a:prstGeom>
          <a:solidFill>
            <a:srgbClr val="1C0E0D"/>
          </a:solidFill>
          <a:ln w="15875">
            <a:solidFill>
              <a:srgbClr val="9A3A4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33008" y="4005072"/>
            <a:ext cx="5501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Reaches 0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33008" y="4590288"/>
            <a:ext cx="5501488" cy="457200"/>
          </a:xfrm>
          <a:prstGeom prst="roundRect">
            <a:avLst>
              <a:gd name="adj" fmla="val 12000"/>
            </a:avLst>
          </a:prstGeom>
          <a:solidFill>
            <a:srgbClr val="1C0E0D"/>
          </a:solidFill>
          <a:ln w="15875">
            <a:solidFill>
              <a:srgbClr val="9A3A4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33008" y="4590288"/>
            <a:ext cx="5501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💀  GAME OVER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6492240"/>
            <a:ext cx="112772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CSE115 | SECTION 4 | Group - 1 | Syed Mohammad Aqif Reza (2622644042) | Tilika Biswas (2621946042) | Humayra Mahjuba Zaman (2621387042)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6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441448" cy="384048"/>
          </a:xfrm>
          <a:prstGeom prst="roundRect">
            <a:avLst>
              <a:gd name="adj" fmla="val 19048"/>
            </a:avLst>
          </a:prstGeom>
          <a:solidFill>
            <a:srgbClr val="72101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2441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FOUNDATION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095183" y="320040"/>
            <a:ext cx="3639312" cy="384048"/>
          </a:xfrm>
          <a:prstGeom prst="roundRect">
            <a:avLst>
              <a:gd name="adj" fmla="val 50000"/>
            </a:avLst>
          </a:prstGeom>
          <a:solidFill>
            <a:srgbClr val="1C0E0D"/>
          </a:solidFill>
          <a:ln w="12700">
            <a:solidFill>
              <a:srgbClr val="B98B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95183" y="320040"/>
            <a:ext cx="3639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DB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 </a:t>
            </a:r>
            <a:r>
              <a:rPr lang="en-US" sz="1200" b="1" dirty="0">
                <a:solidFill>
                  <a:srgbClr val="D9B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Syed Mohammad Aqif Reza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685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🏛️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143000" y="777240"/>
            <a:ext cx="105914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2EEE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Program Foundation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1444752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BDB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structures and initialization that every other system in the game builds on.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5806440" cy="3200400"/>
          </a:xfrm>
          <a:prstGeom prst="roundRect">
            <a:avLst>
              <a:gd name="adj" fmla="val 1714"/>
            </a:avLst>
          </a:prstGeom>
          <a:solidFill>
            <a:srgbClr val="120A08"/>
          </a:solidFill>
          <a:ln w="15875">
            <a:solidFill>
              <a:srgbClr val="3A242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57200" y="1737360"/>
            <a:ext cx="5806440" cy="365760"/>
          </a:xfrm>
          <a:prstGeom prst="rect">
            <a:avLst/>
          </a:prstGeom>
          <a:solidFill>
            <a:srgbClr val="1E100D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103120"/>
            <a:ext cx="5806440" cy="0"/>
          </a:xfrm>
          <a:prstGeom prst="line">
            <a:avLst/>
          </a:prstGeom>
          <a:noFill/>
          <a:ln w="12700">
            <a:solidFill>
              <a:srgbClr val="3A242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1865376"/>
            <a:ext cx="109728" cy="109728"/>
          </a:xfrm>
          <a:prstGeom prst="ellipse">
            <a:avLst/>
          </a:prstGeom>
          <a:solidFill>
            <a:srgbClr val="C0453F"/>
          </a:solidFill>
          <a:ln/>
        </p:spPr>
      </p:sp>
      <p:sp>
        <p:nvSpPr>
          <p:cNvPr id="13" name="Shape 11"/>
          <p:cNvSpPr/>
          <p:nvPr/>
        </p:nvSpPr>
        <p:spPr>
          <a:xfrm>
            <a:off x="841248" y="1865376"/>
            <a:ext cx="109728" cy="109728"/>
          </a:xfrm>
          <a:prstGeom prst="ellipse">
            <a:avLst/>
          </a:prstGeom>
          <a:solidFill>
            <a:srgbClr val="D8A23A"/>
          </a:solidFill>
          <a:ln/>
        </p:spPr>
      </p:sp>
      <p:sp>
        <p:nvSpPr>
          <p:cNvPr id="14" name="Shape 12"/>
          <p:cNvSpPr/>
          <p:nvPr/>
        </p:nvSpPr>
        <p:spPr>
          <a:xfrm>
            <a:off x="1024128" y="1865376"/>
            <a:ext cx="109728" cy="109728"/>
          </a:xfrm>
          <a:prstGeom prst="ellipse">
            <a:avLst/>
          </a:prstGeom>
          <a:solidFill>
            <a:srgbClr val="4C8C5B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1737360"/>
            <a:ext cx="5806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7F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structures.h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2212848"/>
            <a:ext cx="53492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5000"/>
              </a:lnSpc>
            </a:pPr>
            <a:r>
              <a:rPr lang="en-US" sz="1300" dirty="0" err="1">
                <a:solidFill>
                  <a:srgbClr val="E9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typedef</a:t>
            </a:r>
            <a:r>
              <a:rPr lang="en-US" sz="1300" dirty="0">
                <a:solidFill>
                  <a:srgbClr val="E9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 err="1">
                <a:solidFill>
                  <a:srgbClr val="E9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</a:t>
            </a:r>
            <a:r>
              <a:rPr lang="en-US" sz="1300" dirty="0">
                <a:solidFill>
                  <a:srgbClr val="E9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</a:p>
          <a:p>
            <a:pPr>
              <a:lnSpc>
                <a:spcPct val="125000"/>
              </a:lnSpc>
            </a:pPr>
            <a:r>
              <a:rPr lang="en-US" sz="1300" dirty="0">
                <a:solidFill>
                  <a:srgbClr val="E9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char name[50], description[300], item[30];</a:t>
            </a:r>
          </a:p>
          <a:p>
            <a:pPr>
              <a:lnSpc>
                <a:spcPct val="125000"/>
              </a:lnSpc>
            </a:pPr>
            <a:r>
              <a:rPr lang="en-US" sz="1300" dirty="0">
                <a:solidFill>
                  <a:srgbClr val="E9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 err="1">
                <a:solidFill>
                  <a:srgbClr val="E9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00" dirty="0">
                <a:solidFill>
                  <a:srgbClr val="E9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exits[4], </a:t>
            </a:r>
            <a:r>
              <a:rPr lang="en-US" sz="1300" dirty="0" err="1">
                <a:solidFill>
                  <a:srgbClr val="E9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itemTaken</a:t>
            </a:r>
            <a:r>
              <a:rPr lang="en-US" sz="1300" dirty="0">
                <a:solidFill>
                  <a:srgbClr val="E9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puzzle, </a:t>
            </a:r>
            <a:r>
              <a:rPr lang="en-US" sz="1300" dirty="0" err="1">
                <a:solidFill>
                  <a:srgbClr val="E9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puzzleSolved</a:t>
            </a:r>
            <a:r>
              <a:rPr lang="en-US" sz="1300" dirty="0">
                <a:solidFill>
                  <a:srgbClr val="E9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n-US" sz="1300" dirty="0">
                <a:solidFill>
                  <a:srgbClr val="E9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 err="1">
                <a:solidFill>
                  <a:srgbClr val="E9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00" dirty="0">
                <a:solidFill>
                  <a:srgbClr val="E9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ghost, </a:t>
            </a:r>
            <a:r>
              <a:rPr lang="en-US" sz="1300" dirty="0" err="1">
                <a:solidFill>
                  <a:srgbClr val="E9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ghostDefeated</a:t>
            </a:r>
            <a:r>
              <a:rPr lang="en-US" sz="1300" dirty="0">
                <a:solidFill>
                  <a:srgbClr val="E9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damage;</a:t>
            </a:r>
          </a:p>
          <a:p>
            <a:pPr>
              <a:lnSpc>
                <a:spcPct val="125000"/>
              </a:lnSpc>
            </a:pPr>
            <a:r>
              <a:rPr lang="en-US" sz="1300" dirty="0">
                <a:solidFill>
                  <a:srgbClr val="E9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Room;</a:t>
            </a:r>
          </a:p>
          <a:p>
            <a:pPr>
              <a:lnSpc>
                <a:spcPct val="125000"/>
              </a:lnSpc>
            </a:pPr>
            <a:endParaRPr lang="en-GB" sz="1300" dirty="0">
              <a:solidFill>
                <a:srgbClr val="E9E3D8"/>
              </a:solidFill>
              <a:latin typeface="Courier New" pitchFamily="34" charset="0"/>
              <a:cs typeface="Courier New" pitchFamily="34" charset="-120"/>
            </a:endParaRPr>
          </a:p>
          <a:p>
            <a:pPr lvl="0">
              <a:lnSpc>
                <a:spcPct val="125000"/>
              </a:lnSpc>
            </a:pPr>
            <a:r>
              <a:rPr lang="en-US" sz="1300" i="1" dirty="0">
                <a:solidFill>
                  <a:srgbClr val="8A7F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Key functions:</a:t>
            </a:r>
            <a:endParaRPr lang="en-US" sz="1300" i="1" dirty="0">
              <a:solidFill>
                <a:srgbClr val="8A7F76"/>
              </a:solidFill>
            </a:endParaRPr>
          </a:p>
          <a:p>
            <a:pPr lvl="0">
              <a:lnSpc>
                <a:spcPct val="125000"/>
              </a:lnSpc>
            </a:pPr>
            <a:r>
              <a:rPr lang="en-US" sz="1300" i="1" dirty="0">
                <a:solidFill>
                  <a:srgbClr val="8A7F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menu() · </a:t>
            </a:r>
            <a:r>
              <a:rPr lang="en-US" sz="1300" i="1" dirty="0" err="1">
                <a:solidFill>
                  <a:srgbClr val="8A7F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setRoom</a:t>
            </a:r>
            <a:r>
              <a:rPr lang="en-US" sz="1300" i="1" dirty="0">
                <a:solidFill>
                  <a:srgbClr val="8A7F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· </a:t>
            </a:r>
            <a:r>
              <a:rPr lang="en-US" sz="1300" i="1" dirty="0" err="1">
                <a:solidFill>
                  <a:srgbClr val="8A7F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initializeRooms</a:t>
            </a:r>
            <a:r>
              <a:rPr lang="en-US" sz="1300" i="1" dirty="0">
                <a:solidFill>
                  <a:srgbClr val="8A7F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300" i="1" dirty="0">
              <a:solidFill>
                <a:srgbClr val="8A7F76"/>
              </a:solidFill>
            </a:endParaRPr>
          </a:p>
          <a:p>
            <a:pPr lvl="0">
              <a:lnSpc>
                <a:spcPct val="125000"/>
              </a:lnSpc>
            </a:pPr>
            <a:r>
              <a:rPr lang="en-US" sz="1300" i="1" dirty="0">
                <a:solidFill>
                  <a:srgbClr val="8A7F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</a:t>
            </a:r>
            <a:r>
              <a:rPr lang="en-US" sz="1300" i="1" dirty="0" err="1">
                <a:solidFill>
                  <a:srgbClr val="8A7F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initializePlayer</a:t>
            </a:r>
            <a:r>
              <a:rPr lang="en-US" sz="1300" i="1" dirty="0">
                <a:solidFill>
                  <a:srgbClr val="8A7F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· </a:t>
            </a:r>
            <a:r>
              <a:rPr lang="en-US" sz="1300" i="1" dirty="0" err="1">
                <a:solidFill>
                  <a:srgbClr val="8A7F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showRoom</a:t>
            </a:r>
            <a:r>
              <a:rPr lang="en-US" sz="1300" i="1" dirty="0">
                <a:solidFill>
                  <a:srgbClr val="8A7F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300" i="1" dirty="0">
              <a:solidFill>
                <a:srgbClr val="8A7F76"/>
              </a:solidFill>
            </a:endParaRPr>
          </a:p>
          <a:p>
            <a:pPr>
              <a:lnSpc>
                <a:spcPct val="125000"/>
              </a:lnSpc>
            </a:pP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19672" y="1737360"/>
            <a:ext cx="5214823" cy="1600200"/>
          </a:xfrm>
          <a:prstGeom prst="roundRect">
            <a:avLst>
              <a:gd name="adj" fmla="val 3429"/>
            </a:avLst>
          </a:prstGeom>
          <a:solidFill>
            <a:srgbClr val="1C0E0D"/>
          </a:solidFill>
          <a:ln w="15875">
            <a:solidFill>
              <a:srgbClr val="9A3A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02552" y="1828800"/>
            <a:ext cx="484906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Player State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48272" y="2139696"/>
            <a:ext cx="4757623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BDB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Name</a:t>
            </a:r>
            <a:endParaRPr lang="en-US" sz="12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BDB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Health</a:t>
            </a:r>
            <a:endParaRPr lang="en-US" sz="12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BDB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Score</a:t>
            </a:r>
            <a:endParaRPr lang="en-US" sz="12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BDB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Current room</a:t>
            </a:r>
            <a:endParaRPr lang="en-US" sz="12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BDB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Inventory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19672" y="3502152"/>
            <a:ext cx="5214823" cy="1618488"/>
          </a:xfrm>
          <a:prstGeom prst="roundRect">
            <a:avLst>
              <a:gd name="adj" fmla="val 3390"/>
            </a:avLst>
          </a:prstGeom>
          <a:solidFill>
            <a:srgbClr val="1C0E0D"/>
          </a:solidFill>
          <a:ln w="15875">
            <a:solidFill>
              <a:srgbClr val="B98B4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02552" y="3593592"/>
            <a:ext cx="484906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Menu &amp; Room Display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748272" y="3913632"/>
            <a:ext cx="4757623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DB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BDB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prototypes declared for every gameplay system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DB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Menu-driven loop reads the player's choice each turn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DB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Room display prints name, description &amp; exits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5285232"/>
            <a:ext cx="11277295" cy="502920"/>
          </a:xfrm>
          <a:prstGeom prst="roundRect">
            <a:avLst>
              <a:gd name="adj" fmla="val 14545"/>
            </a:avLst>
          </a:prstGeom>
          <a:solidFill>
            <a:srgbClr val="1C0E0D"/>
          </a:solidFill>
          <a:ln w="15875">
            <a:solidFill>
              <a:srgbClr val="B98B4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5285232"/>
            <a:ext cx="110029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9B3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Structures  →  Initialization  →  Room Display  →  Player Interaction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112772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CSE115 | SECTION 4 | Group - 1 | Syed Mohammad Aqif Reza (2622644042) | Tilika Biswas (2621946042) | Humayra Mahjuba Zaman (2621387042)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6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231136" cy="384048"/>
          </a:xfrm>
          <a:prstGeom prst="roundRect">
            <a:avLst>
              <a:gd name="adj" fmla="val 19048"/>
            </a:avLst>
          </a:prstGeom>
          <a:solidFill>
            <a:srgbClr val="72101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22311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GAMEPLAY SYSTEMS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095183" y="320040"/>
            <a:ext cx="3639312" cy="384048"/>
          </a:xfrm>
          <a:prstGeom prst="roundRect">
            <a:avLst>
              <a:gd name="adj" fmla="val 50000"/>
            </a:avLst>
          </a:prstGeom>
          <a:solidFill>
            <a:srgbClr val="1C0E0D"/>
          </a:solidFill>
          <a:ln w="12700">
            <a:solidFill>
              <a:srgbClr val="B98B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95183" y="320040"/>
            <a:ext cx="3639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DB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 </a:t>
            </a:r>
            <a:r>
              <a:rPr lang="en-US" sz="1200" b="1" dirty="0">
                <a:solidFill>
                  <a:srgbClr val="D9B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Humayra Mahjuba Zaman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685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🎮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143000" y="777240"/>
            <a:ext cx="105914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2EEE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Gameplay Systems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1444752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BDB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Movement, danger, and recovery — the systems that decide whether the player survives.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3667658" cy="1783080"/>
          </a:xfrm>
          <a:prstGeom prst="roundRect">
            <a:avLst>
              <a:gd name="adj" fmla="val 3077"/>
            </a:avLst>
          </a:prstGeom>
          <a:solidFill>
            <a:srgbClr val="1C0E0D"/>
          </a:solidFill>
          <a:ln w="15875">
            <a:solidFill>
              <a:srgbClr val="9A3A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80133" y="1883664"/>
            <a:ext cx="621792" cy="621792"/>
          </a:xfrm>
          <a:prstGeom prst="ellipse">
            <a:avLst/>
          </a:prstGeom>
          <a:solidFill>
            <a:srgbClr val="241412"/>
          </a:solidFill>
          <a:ln w="19050">
            <a:solidFill>
              <a:srgbClr val="9A3A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80133" y="188366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800" dirty="0">
                <a:solidFill>
                  <a:schemeClr val="bg1">
                    <a:lumMod val="85000"/>
                  </a:schemeClr>
                </a:solidFill>
              </a:rPr>
              <a:t>🚶</a:t>
            </a:r>
            <a:endParaRPr lang="en-US" sz="2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7200" y="2578608"/>
            <a:ext cx="366765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2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94360" y="2871216"/>
            <a:ext cx="33933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9B3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 exit → Check required item → Move player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3163824"/>
            <a:ext cx="330189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DB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Basement needs the Flashlight; Secret Chamber needs the Silver Key.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62018" y="1737360"/>
            <a:ext cx="3667658" cy="1783080"/>
          </a:xfrm>
          <a:prstGeom prst="roundRect">
            <a:avLst>
              <a:gd name="adj" fmla="val 3077"/>
            </a:avLst>
          </a:prstGeom>
          <a:solidFill>
            <a:srgbClr val="1C0E0D"/>
          </a:solidFill>
          <a:ln w="15875">
            <a:solidFill>
              <a:srgbClr val="9A3A4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84952" y="1883664"/>
            <a:ext cx="621792" cy="621792"/>
          </a:xfrm>
          <a:prstGeom prst="ellipse">
            <a:avLst/>
          </a:prstGeom>
          <a:solidFill>
            <a:srgbClr val="241412"/>
          </a:solidFill>
          <a:ln w="19050">
            <a:solidFill>
              <a:srgbClr val="9A3A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84952" y="188366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chemeClr val="bg1">
                    <a:lumMod val="75000"/>
                  </a:schemeClr>
                </a:solidFill>
              </a:rPr>
              <a:t>👻</a:t>
            </a:r>
          </a:p>
        </p:txBody>
      </p:sp>
      <p:sp>
        <p:nvSpPr>
          <p:cNvPr id="18" name="Text 16"/>
          <p:cNvSpPr/>
          <p:nvPr/>
        </p:nvSpPr>
        <p:spPr>
          <a:xfrm>
            <a:off x="4262018" y="2578608"/>
            <a:ext cx="366765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2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 SYSTEM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399178" y="2871216"/>
            <a:ext cx="33933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9B3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danger room → Random damage → Update health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444898" y="3163824"/>
            <a:ext cx="330189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DB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damage during Kitchen &amp; Basement encounters.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066837" y="1737360"/>
            <a:ext cx="3667658" cy="1783080"/>
          </a:xfrm>
          <a:prstGeom prst="roundRect">
            <a:avLst>
              <a:gd name="adj" fmla="val 3077"/>
            </a:avLst>
          </a:prstGeom>
          <a:solidFill>
            <a:srgbClr val="1C0E0D"/>
          </a:solidFill>
          <a:ln w="15875">
            <a:solidFill>
              <a:srgbClr val="4C8C5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89770" y="1883664"/>
            <a:ext cx="621792" cy="621792"/>
          </a:xfrm>
          <a:prstGeom prst="ellipse">
            <a:avLst/>
          </a:prstGeom>
          <a:solidFill>
            <a:srgbClr val="241412"/>
          </a:solidFill>
          <a:ln w="19050">
            <a:solidFill>
              <a:srgbClr val="4C8C5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89770" y="188366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chemeClr val="bg1">
                    <a:lumMod val="85000"/>
                  </a:schemeClr>
                </a:solidFill>
              </a:rPr>
              <a:t>💊</a:t>
            </a:r>
          </a:p>
        </p:txBody>
      </p:sp>
      <p:sp>
        <p:nvSpPr>
          <p:cNvPr id="24" name="Text 22"/>
          <p:cNvSpPr/>
          <p:nvPr/>
        </p:nvSpPr>
        <p:spPr>
          <a:xfrm>
            <a:off x="8066837" y="2578608"/>
            <a:ext cx="366765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2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HEALING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203997" y="2871216"/>
            <a:ext cx="33933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9B3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Medicine +20  ·  Med Kit +35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249717" y="3163824"/>
            <a:ext cx="330189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DB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Capped at 100 max health; item removed after use.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199" y="3828996"/>
            <a:ext cx="11408736" cy="2224331"/>
          </a:xfrm>
          <a:prstGeom prst="roundRect">
            <a:avLst>
              <a:gd name="adj" fmla="val 2791"/>
            </a:avLst>
          </a:prstGeom>
          <a:solidFill>
            <a:srgbClr val="120A08"/>
          </a:solidFill>
          <a:ln w="15875">
            <a:solidFill>
              <a:srgbClr val="3A242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3749040"/>
            <a:ext cx="11277295" cy="365760"/>
          </a:xfrm>
          <a:prstGeom prst="rect">
            <a:avLst/>
          </a:prstGeom>
          <a:solidFill>
            <a:srgbClr val="1E100D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4114800"/>
            <a:ext cx="11277295" cy="0"/>
          </a:xfrm>
          <a:prstGeom prst="line">
            <a:avLst/>
          </a:prstGeom>
          <a:noFill/>
          <a:ln w="12700">
            <a:solidFill>
              <a:srgbClr val="3A242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8368" y="3877056"/>
            <a:ext cx="109728" cy="109728"/>
          </a:xfrm>
          <a:prstGeom prst="ellipse">
            <a:avLst/>
          </a:prstGeom>
          <a:solidFill>
            <a:srgbClr val="C0453F"/>
          </a:solidFill>
          <a:ln/>
        </p:spPr>
      </p:sp>
      <p:sp>
        <p:nvSpPr>
          <p:cNvPr id="31" name="Shape 29"/>
          <p:cNvSpPr/>
          <p:nvPr/>
        </p:nvSpPr>
        <p:spPr>
          <a:xfrm>
            <a:off x="841248" y="3877056"/>
            <a:ext cx="109728" cy="109728"/>
          </a:xfrm>
          <a:prstGeom prst="ellipse">
            <a:avLst/>
          </a:prstGeom>
          <a:solidFill>
            <a:srgbClr val="D8A23A"/>
          </a:solidFill>
          <a:ln/>
        </p:spPr>
      </p:sp>
      <p:sp>
        <p:nvSpPr>
          <p:cNvPr id="32" name="Shape 30"/>
          <p:cNvSpPr/>
          <p:nvPr/>
        </p:nvSpPr>
        <p:spPr>
          <a:xfrm>
            <a:off x="1024128" y="3877056"/>
            <a:ext cx="109728" cy="109728"/>
          </a:xfrm>
          <a:prstGeom prst="ellipse">
            <a:avLst/>
          </a:prstGeom>
          <a:solidFill>
            <a:srgbClr val="4C8C5B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374904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7F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gameplay.c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85800" y="4224528"/>
            <a:ext cx="10820095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(r[next].ghost &amp;&amp; !r[next].ghostDefeated) {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damage = r[next].damage + rand() % 6;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p-&gt;health -= damage;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</a:p>
          <a:p>
            <a:pPr marL="0" indent="0">
              <a:lnSpc>
                <a:spcPct val="125000"/>
              </a:lnSpc>
              <a:buNone/>
            </a:pPr>
            <a:endParaRPr lang="en-GB" sz="1300" dirty="0">
              <a:solidFill>
                <a:srgbClr val="E9E3D8"/>
              </a:solidFill>
              <a:latin typeface="Courier New" pitchFamily="34" charset="0"/>
              <a:cs typeface="Courier New" pitchFamily="34" charset="-120"/>
            </a:endParaRPr>
          </a:p>
          <a:p>
            <a:pPr lvl="0">
              <a:lnSpc>
                <a:spcPct val="125000"/>
              </a:lnSpc>
            </a:pPr>
            <a:r>
              <a:rPr lang="en-US" sz="1300" i="1" dirty="0">
                <a:solidFill>
                  <a:srgbClr val="8A7F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What this does: damage is </a:t>
            </a:r>
            <a:r>
              <a:rPr lang="en-US" sz="1300" i="1" dirty="0" err="1">
                <a:solidFill>
                  <a:srgbClr val="8A7F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randomised</a:t>
            </a:r>
            <a:r>
              <a:rPr lang="en-US" sz="1300" i="1" dirty="0">
                <a:solidFill>
                  <a:srgbClr val="8A7F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so encounters aren't predictable</a:t>
            </a:r>
            <a:endParaRPr lang="en-US" sz="1300" i="1" dirty="0">
              <a:solidFill>
                <a:srgbClr val="8A7F76"/>
              </a:solidFill>
            </a:endParaRPr>
          </a:p>
          <a:p>
            <a:pPr lvl="0">
              <a:lnSpc>
                <a:spcPct val="125000"/>
              </a:lnSpc>
            </a:pPr>
            <a:r>
              <a:rPr lang="en-US" sz="1300" i="1" dirty="0">
                <a:solidFill>
                  <a:srgbClr val="8A7F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Key functions: </a:t>
            </a:r>
            <a:r>
              <a:rPr lang="en-US" sz="1300" i="1" dirty="0" err="1">
                <a:solidFill>
                  <a:srgbClr val="8A7F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movePlayer</a:t>
            </a:r>
            <a:r>
              <a:rPr lang="en-US" sz="1300" i="1" dirty="0">
                <a:solidFill>
                  <a:srgbClr val="8A7F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· </a:t>
            </a:r>
            <a:r>
              <a:rPr lang="en-US" sz="1300" i="1" dirty="0" err="1">
                <a:solidFill>
                  <a:srgbClr val="8A7F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takeItem</a:t>
            </a:r>
            <a:r>
              <a:rPr lang="en-US" sz="1300" i="1" dirty="0">
                <a:solidFill>
                  <a:srgbClr val="8A7F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· </a:t>
            </a:r>
            <a:r>
              <a:rPr lang="en-US" sz="1300" i="1" dirty="0" err="1">
                <a:solidFill>
                  <a:srgbClr val="8A7F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showInventory</a:t>
            </a:r>
            <a:r>
              <a:rPr lang="en-US" sz="1300" i="1" dirty="0">
                <a:solidFill>
                  <a:srgbClr val="8A7F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· </a:t>
            </a:r>
            <a:r>
              <a:rPr lang="en-US" sz="1300" i="1" dirty="0" err="1">
                <a:solidFill>
                  <a:srgbClr val="8A7F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useHealingItem</a:t>
            </a:r>
            <a:r>
              <a:rPr lang="en-US" sz="1300" i="1" dirty="0">
                <a:solidFill>
                  <a:srgbClr val="8A7F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300" i="1" dirty="0">
              <a:solidFill>
                <a:srgbClr val="8A7F76"/>
              </a:solidFill>
            </a:endParaRPr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57200" y="6492240"/>
            <a:ext cx="112772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CSE115 | SECTION 4 | Group - 1 | Syed Mohammad Aqif Reza (2622644042) | Tilika Biswas (2621946042) | Humayra Mahjuba Zaman (2621387042)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6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756916" cy="384048"/>
          </a:xfrm>
          <a:prstGeom prst="roundRect">
            <a:avLst>
              <a:gd name="adj" fmla="val 19048"/>
            </a:avLst>
          </a:prstGeom>
          <a:solidFill>
            <a:srgbClr val="72101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27569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PUZZLE &amp; GAME CONTROL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095183" y="320040"/>
            <a:ext cx="3639312" cy="384048"/>
          </a:xfrm>
          <a:prstGeom prst="roundRect">
            <a:avLst>
              <a:gd name="adj" fmla="val 50000"/>
            </a:avLst>
          </a:prstGeom>
          <a:solidFill>
            <a:srgbClr val="1C0E0D"/>
          </a:solidFill>
          <a:ln w="12700">
            <a:solidFill>
              <a:srgbClr val="B98B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95183" y="320040"/>
            <a:ext cx="3639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DB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 </a:t>
            </a:r>
            <a:r>
              <a:rPr lang="en-US" sz="1200" b="1" dirty="0">
                <a:solidFill>
                  <a:srgbClr val="D9B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Tilika Biswas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685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🧩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143000" y="777240"/>
            <a:ext cx="105914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2EEE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Puzzles → Keys → Escape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1444752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BDB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logic that gates progress and decides whether the player escapes.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11277295" cy="530352"/>
          </a:xfrm>
          <a:prstGeom prst="roundRect">
            <a:avLst>
              <a:gd name="adj" fmla="val 13793"/>
            </a:avLst>
          </a:prstGeom>
          <a:solidFill>
            <a:srgbClr val="1C0E0D"/>
          </a:solidFill>
          <a:ln w="15875">
            <a:solidFill>
              <a:srgbClr val="B98B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783080"/>
            <a:ext cx="11002975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B3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📚  LIBRARY   →   Keyboard  Book  Chair  →   ✅ Correct   →   🔑 SILVER KEY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459736"/>
            <a:ext cx="11277295" cy="530352"/>
          </a:xfrm>
          <a:prstGeom prst="roundRect">
            <a:avLst>
              <a:gd name="adj" fmla="val 13793"/>
            </a:avLst>
          </a:prstGeom>
          <a:solidFill>
            <a:srgbClr val="1C0E0D"/>
          </a:solidFill>
          <a:ln w="15875">
            <a:solidFill>
              <a:srgbClr val="B98B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459736"/>
            <a:ext cx="11002975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B3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🕯️  SECRET CHAMBER   →   1  3  5  7  ?   →   ✅ Correct   →   🔑 MASTER KEY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136392"/>
            <a:ext cx="11277295" cy="530352"/>
          </a:xfrm>
          <a:prstGeom prst="roundRect">
            <a:avLst>
              <a:gd name="adj" fmla="val 13793"/>
            </a:avLst>
          </a:prstGeom>
          <a:solidFill>
            <a:srgbClr val="1C0E0D"/>
          </a:solidFill>
          <a:ln w="15875">
            <a:solidFill>
              <a:srgbClr val="4C8C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136392"/>
            <a:ext cx="11002975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EE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🚪  ENTRANCE HALL   →   🏆  ESCAPE THE MANSION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3904487"/>
            <a:ext cx="11277295" cy="2230499"/>
          </a:xfrm>
          <a:prstGeom prst="roundRect">
            <a:avLst>
              <a:gd name="adj" fmla="val 2791"/>
            </a:avLst>
          </a:prstGeom>
          <a:solidFill>
            <a:srgbClr val="120A08"/>
          </a:solidFill>
          <a:ln w="15875">
            <a:solidFill>
              <a:srgbClr val="3A242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904488"/>
            <a:ext cx="11277295" cy="365760"/>
          </a:xfrm>
          <a:prstGeom prst="rect">
            <a:avLst/>
          </a:prstGeom>
          <a:solidFill>
            <a:srgbClr val="1E100D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4270248"/>
            <a:ext cx="11277295" cy="0"/>
          </a:xfrm>
          <a:prstGeom prst="line">
            <a:avLst/>
          </a:prstGeom>
          <a:noFill/>
          <a:ln w="12700">
            <a:solidFill>
              <a:srgbClr val="3A242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4032504"/>
            <a:ext cx="109728" cy="109728"/>
          </a:xfrm>
          <a:prstGeom prst="ellipse">
            <a:avLst/>
          </a:prstGeom>
          <a:solidFill>
            <a:srgbClr val="C0453F"/>
          </a:solidFill>
          <a:ln/>
        </p:spPr>
      </p:sp>
      <p:sp>
        <p:nvSpPr>
          <p:cNvPr id="19" name="Shape 17"/>
          <p:cNvSpPr/>
          <p:nvPr/>
        </p:nvSpPr>
        <p:spPr>
          <a:xfrm>
            <a:off x="841248" y="4032504"/>
            <a:ext cx="109728" cy="109728"/>
          </a:xfrm>
          <a:prstGeom prst="ellipse">
            <a:avLst/>
          </a:prstGeom>
          <a:solidFill>
            <a:srgbClr val="D8A23A"/>
          </a:solidFill>
          <a:ln/>
        </p:spPr>
      </p:sp>
      <p:sp>
        <p:nvSpPr>
          <p:cNvPr id="20" name="Shape 18"/>
          <p:cNvSpPr/>
          <p:nvPr/>
        </p:nvSpPr>
        <p:spPr>
          <a:xfrm>
            <a:off x="1024128" y="4032504"/>
            <a:ext cx="109728" cy="109728"/>
          </a:xfrm>
          <a:prstGeom prst="ellipse">
            <a:avLst/>
          </a:prstGeom>
          <a:solidFill>
            <a:srgbClr val="4C8C5B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904488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7F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puzzles.c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" y="4398264"/>
            <a:ext cx="10820095" cy="16622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/>
            <a:r>
              <a:rPr lang="en-US" sz="1300" dirty="0">
                <a:solidFill>
                  <a:srgbClr val="E9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(answer == 1) {</a:t>
            </a:r>
          </a:p>
          <a:p>
            <a:pPr algn="just"/>
            <a:r>
              <a:rPr lang="en-US" sz="1300" dirty="0">
                <a:solidFill>
                  <a:srgbClr val="E9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x-&gt;</a:t>
            </a:r>
            <a:r>
              <a:rPr lang="en-US" sz="1300" dirty="0" err="1">
                <a:solidFill>
                  <a:srgbClr val="E9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puzzleSolved</a:t>
            </a:r>
            <a:r>
              <a:rPr lang="en-US" sz="1300" dirty="0">
                <a:solidFill>
                  <a:srgbClr val="E9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1;</a:t>
            </a:r>
          </a:p>
          <a:p>
            <a:pPr algn="just"/>
            <a:r>
              <a:rPr lang="en-US" sz="1300" dirty="0">
                <a:solidFill>
                  <a:srgbClr val="E9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300" dirty="0" err="1">
                <a:solidFill>
                  <a:srgbClr val="E9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strcpy</a:t>
            </a:r>
            <a:r>
              <a:rPr lang="en-US" sz="1300" dirty="0">
                <a:solidFill>
                  <a:srgbClr val="E9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(x-&gt;item, "Silver Key");</a:t>
            </a:r>
          </a:p>
          <a:p>
            <a:pPr algn="just"/>
            <a:r>
              <a:rPr lang="en-US" sz="1300" dirty="0">
                <a:solidFill>
                  <a:srgbClr val="E9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p-&gt;score += 20;</a:t>
            </a:r>
          </a:p>
          <a:p>
            <a:pPr>
              <a:lnSpc>
                <a:spcPct val="125000"/>
              </a:lnSpc>
            </a:pPr>
            <a:r>
              <a:rPr lang="en-US" sz="1300" dirty="0">
                <a:solidFill>
                  <a:srgbClr val="E9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</a:p>
          <a:p>
            <a:pPr lvl="0">
              <a:lnSpc>
                <a:spcPct val="125000"/>
              </a:lnSpc>
            </a:pPr>
            <a:r>
              <a:rPr lang="en-US" sz="1300" i="1" dirty="0">
                <a:solidFill>
                  <a:srgbClr val="8A7F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Correct answer -&gt; Silver Key -&gt; +20 points</a:t>
            </a:r>
            <a:endParaRPr lang="en-US" sz="1300" dirty="0">
              <a:solidFill>
                <a:prstClr val="black"/>
              </a:solidFill>
            </a:endParaRPr>
          </a:p>
          <a:p>
            <a:pPr lvl="0">
              <a:lnSpc>
                <a:spcPct val="125000"/>
              </a:lnSpc>
            </a:pPr>
            <a:r>
              <a:rPr lang="en-US" sz="1300" i="1" dirty="0">
                <a:solidFill>
                  <a:srgbClr val="8A7F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Key functions: </a:t>
            </a:r>
            <a:r>
              <a:rPr lang="en-US" sz="1300" i="1" dirty="0" err="1">
                <a:solidFill>
                  <a:srgbClr val="8A7F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solvePuzzle</a:t>
            </a:r>
            <a:r>
              <a:rPr lang="en-US" sz="1300" i="1" dirty="0">
                <a:solidFill>
                  <a:srgbClr val="8A7F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· </a:t>
            </a:r>
            <a:r>
              <a:rPr lang="en-US" sz="1300" i="1" dirty="0" err="1">
                <a:solidFill>
                  <a:srgbClr val="8A7F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hasItem</a:t>
            </a:r>
            <a:r>
              <a:rPr lang="en-US" sz="1300" i="1" dirty="0">
                <a:solidFill>
                  <a:srgbClr val="8A7F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· main() — switch-case &amp; input validation</a:t>
            </a:r>
            <a:endParaRPr lang="en-US" sz="1300" dirty="0">
              <a:solidFill>
                <a:prstClr val="black"/>
              </a:solidFill>
            </a:endParaRPr>
          </a:p>
          <a:p>
            <a:pPr>
              <a:lnSpc>
                <a:spcPct val="125000"/>
              </a:lnSpc>
            </a:pPr>
            <a:endParaRPr lang="en-US" sz="1300" dirty="0">
              <a:solidFill>
                <a:schemeClr val="bg1">
                  <a:lumMod val="65000"/>
                </a:schemeClr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>
              <a:lnSpc>
                <a:spcPct val="125000"/>
              </a:lnSpc>
            </a:pP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492240"/>
            <a:ext cx="112772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CSE115 | SECTION 4 | Group - 1 | Syed Mohammad Aqif Reza (2622644042) | Tilika Biswas (2621946042) | Humayra Mahjuba Zaman (2621387042)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6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810512" cy="384048"/>
          </a:xfrm>
          <a:prstGeom prst="roundRect">
            <a:avLst>
              <a:gd name="adj" fmla="val 19048"/>
            </a:avLst>
          </a:prstGeom>
          <a:solidFill>
            <a:srgbClr val="72101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810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095183" y="320040"/>
            <a:ext cx="3639312" cy="384048"/>
          </a:xfrm>
          <a:prstGeom prst="roundRect">
            <a:avLst>
              <a:gd name="adj" fmla="val 50000"/>
            </a:avLst>
          </a:prstGeom>
          <a:solidFill>
            <a:srgbClr val="1C0E0D"/>
          </a:solidFill>
          <a:ln w="12700">
            <a:solidFill>
              <a:srgbClr val="B98B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95183" y="320040"/>
            <a:ext cx="3639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DB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 </a:t>
            </a:r>
            <a:r>
              <a:rPr lang="en-US" sz="1200" b="1" dirty="0" err="1">
                <a:solidFill>
                  <a:srgbClr val="D9B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Tilika</a:t>
            </a:r>
            <a:r>
              <a:rPr lang="en-US" sz="1200" b="1" dirty="0">
                <a:solidFill>
                  <a:srgbClr val="D9B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Biswas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685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🏗️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143000" y="777240"/>
            <a:ext cx="105914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2EEE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Our C Code Connects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1444752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50" i="1" dirty="0">
                <a:solidFill>
                  <a:srgbClr val="BDB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sections. One shared game state — Room[] and Player flow from input to win or game over.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560320" y="1965960"/>
            <a:ext cx="2103120" cy="365760"/>
          </a:xfrm>
          <a:prstGeom prst="roundRect">
            <a:avLst>
              <a:gd name="adj" fmla="val 15000"/>
            </a:avLst>
          </a:prstGeom>
          <a:solidFill>
            <a:srgbClr val="72101E"/>
          </a:solidFill>
          <a:ln w="15875">
            <a:solidFill>
              <a:srgbClr val="9A3A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9659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331720"/>
            <a:ext cx="6309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A7F76"/>
                </a:solidFill>
              </a:rPr>
              <a:t>↓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874520" y="251460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241412"/>
          </a:solidFill>
          <a:ln w="15875">
            <a:solidFill>
              <a:srgbClr val="B98B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74520" y="2514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GAME LOOP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880360"/>
            <a:ext cx="6309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A7F76"/>
                </a:solidFill>
              </a:rPr>
              <a:t>↓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063240"/>
            <a:ext cx="2011680" cy="420624"/>
          </a:xfrm>
          <a:prstGeom prst="roundRect">
            <a:avLst>
              <a:gd name="adj" fmla="val 13043"/>
            </a:avLst>
          </a:prstGeom>
          <a:solidFill>
            <a:srgbClr val="241412"/>
          </a:solidFill>
          <a:ln w="15875">
            <a:solidFill>
              <a:srgbClr val="9A3A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063240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2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606040" y="3063240"/>
            <a:ext cx="2011680" cy="420624"/>
          </a:xfrm>
          <a:prstGeom prst="roundRect">
            <a:avLst>
              <a:gd name="adj" fmla="val 13043"/>
            </a:avLst>
          </a:prstGeom>
          <a:solidFill>
            <a:srgbClr val="241412"/>
          </a:solidFill>
          <a:ln w="15875">
            <a:solidFill>
              <a:srgbClr val="9A3A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06040" y="3063240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2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3063240"/>
            <a:ext cx="2011680" cy="420624"/>
          </a:xfrm>
          <a:prstGeom prst="roundRect">
            <a:avLst>
              <a:gd name="adj" fmla="val 13043"/>
            </a:avLst>
          </a:prstGeom>
          <a:solidFill>
            <a:srgbClr val="241412"/>
          </a:solidFill>
          <a:ln w="15875">
            <a:solidFill>
              <a:srgbClr val="9A3A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3063240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2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PUZZLE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3483864"/>
            <a:ext cx="6309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A7F76"/>
                </a:solidFill>
              </a:rPr>
              <a:t>↓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666744"/>
            <a:ext cx="2011680" cy="420624"/>
          </a:xfrm>
          <a:prstGeom prst="roundRect">
            <a:avLst>
              <a:gd name="adj" fmla="val 13043"/>
            </a:avLst>
          </a:prstGeom>
          <a:solidFill>
            <a:srgbClr val="241412"/>
          </a:solidFill>
          <a:ln w="15875">
            <a:solidFill>
              <a:srgbClr val="9A3A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666744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2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606040" y="3666744"/>
            <a:ext cx="2011680" cy="420624"/>
          </a:xfrm>
          <a:prstGeom prst="roundRect">
            <a:avLst>
              <a:gd name="adj" fmla="val 13043"/>
            </a:avLst>
          </a:prstGeom>
          <a:solidFill>
            <a:srgbClr val="241412"/>
          </a:solidFill>
          <a:ln w="15875">
            <a:solidFill>
              <a:srgbClr val="9A3A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06040" y="3666744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2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/ HEALTH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54880" y="3666744"/>
            <a:ext cx="2011680" cy="420624"/>
          </a:xfrm>
          <a:prstGeom prst="roundRect">
            <a:avLst>
              <a:gd name="adj" fmla="val 13043"/>
            </a:avLst>
          </a:prstGeom>
          <a:solidFill>
            <a:srgbClr val="241412"/>
          </a:solidFill>
          <a:ln w="15875">
            <a:solidFill>
              <a:srgbClr val="9A3A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3666744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2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4087368"/>
            <a:ext cx="6309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A7F76"/>
                </a:solidFill>
              </a:rPr>
              <a:t>↓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874520" y="4270248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241412"/>
          </a:solidFill>
          <a:ln w="15875">
            <a:solidFill>
              <a:srgbClr val="B98B4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74520" y="427024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STATE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4636008"/>
            <a:ext cx="6309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A7F76"/>
                </a:solidFill>
              </a:rPr>
              <a:t>↓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1737360" y="4818888"/>
            <a:ext cx="1783080" cy="420624"/>
          </a:xfrm>
          <a:prstGeom prst="roundRect">
            <a:avLst>
              <a:gd name="adj" fmla="val 13043"/>
            </a:avLst>
          </a:prstGeom>
          <a:solidFill>
            <a:srgbClr val="241412"/>
          </a:solidFill>
          <a:ln w="15875">
            <a:solidFill>
              <a:srgbClr val="4C8C5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737360" y="4818888"/>
            <a:ext cx="1783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2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WIN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3703320" y="4818888"/>
            <a:ext cx="1783080" cy="420624"/>
          </a:xfrm>
          <a:prstGeom prst="roundRect">
            <a:avLst>
              <a:gd name="adj" fmla="val 13043"/>
            </a:avLst>
          </a:prstGeom>
          <a:solidFill>
            <a:srgbClr val="241412"/>
          </a:solidFill>
          <a:ln w="15875">
            <a:solidFill>
              <a:srgbClr val="9A3A4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03320" y="4818888"/>
            <a:ext cx="1783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2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💀 GAME OVER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57200" y="5404104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D9B3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Room rooms[NUM_ROOMS];  Player player;  →  passed through every gameplay function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022592" y="1965960"/>
            <a:ext cx="4711903" cy="1325880"/>
          </a:xfrm>
          <a:prstGeom prst="roundRect">
            <a:avLst>
              <a:gd name="adj" fmla="val 4138"/>
            </a:avLst>
          </a:prstGeom>
          <a:solidFill>
            <a:srgbClr val="120A08"/>
          </a:solidFill>
          <a:ln w="15875">
            <a:solidFill>
              <a:srgbClr val="9A3A4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87184" y="2057400"/>
            <a:ext cx="438271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B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187184" y="2350008"/>
            <a:ext cx="4382719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9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Room rooms[NUM_ROOMS];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9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 player;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9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initializeRooms(rooms);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022592" y="3429000"/>
            <a:ext cx="4711903" cy="1325880"/>
          </a:xfrm>
          <a:prstGeom prst="roundRect">
            <a:avLst>
              <a:gd name="adj" fmla="val 4138"/>
            </a:avLst>
          </a:prstGeom>
          <a:solidFill>
            <a:srgbClr val="120A08"/>
          </a:solidFill>
          <a:ln w="15875">
            <a:solidFill>
              <a:srgbClr val="B98B4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87184" y="3520440"/>
            <a:ext cx="438271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B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GAMEPLAY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187184" y="3813048"/>
            <a:ext cx="4382719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9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damage = r[next].damage + rand() % 6;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9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p-&gt;health -= damage;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022592" y="4892040"/>
            <a:ext cx="4711903" cy="1325880"/>
          </a:xfrm>
          <a:prstGeom prst="roundRect">
            <a:avLst>
              <a:gd name="adj" fmla="val 4138"/>
            </a:avLst>
          </a:prstGeom>
          <a:solidFill>
            <a:srgbClr val="120A08"/>
          </a:solidFill>
          <a:ln w="15875">
            <a:solidFill>
              <a:srgbClr val="4C8C5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87184" y="4983480"/>
            <a:ext cx="438271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B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PUZZLES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187184" y="5276088"/>
            <a:ext cx="4382719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9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(player.currentRoom == 0 &amp;&amp;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9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hasItem(&amp;player, "Master Key"))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57200" y="6492240"/>
            <a:ext cx="112772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CSE115 | SECTION 4 | Group - 1 | Syed Mohammad Aqif Reza (2622644042) | Tilika Biswas (2621946042) | Humayra Mahjuba Zaman (2621387042)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6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336292" cy="384048"/>
          </a:xfrm>
          <a:prstGeom prst="roundRect">
            <a:avLst>
              <a:gd name="adj" fmla="val 19048"/>
            </a:avLst>
          </a:prstGeom>
          <a:solidFill>
            <a:srgbClr val="72101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23362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RESULTS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095183" y="320040"/>
            <a:ext cx="3639312" cy="384048"/>
          </a:xfrm>
          <a:prstGeom prst="roundRect">
            <a:avLst>
              <a:gd name="adj" fmla="val 50000"/>
            </a:avLst>
          </a:prstGeom>
          <a:solidFill>
            <a:srgbClr val="1C0E0D"/>
          </a:solidFill>
          <a:ln w="12700">
            <a:solidFill>
              <a:srgbClr val="B98B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95183" y="320040"/>
            <a:ext cx="3639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DB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 </a:t>
            </a:r>
            <a:r>
              <a:rPr lang="en-US" sz="1200" b="1" dirty="0" err="1">
                <a:solidFill>
                  <a:srgbClr val="D9B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Tilika</a:t>
            </a:r>
            <a:r>
              <a:rPr lang="en-US" sz="1200" b="1" dirty="0">
                <a:solidFill>
                  <a:srgbClr val="D9B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Biswas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685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✅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143000" y="777240"/>
            <a:ext cx="105914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2EEE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Testing &amp; Results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1444752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BDB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scenarios run against the actual program — not just a list of features tested.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5501488" cy="777240"/>
          </a:xfrm>
          <a:prstGeom prst="roundRect">
            <a:avLst>
              <a:gd name="adj" fmla="val 7059"/>
            </a:avLst>
          </a:prstGeom>
          <a:solidFill>
            <a:srgbClr val="1C0E0D"/>
          </a:solidFill>
          <a:ln w="15875">
            <a:solidFill>
              <a:srgbClr val="4C8C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73736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8FCB9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417320" y="1737360"/>
            <a:ext cx="44042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2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WIN
</a:t>
            </a:r>
            <a:r>
              <a:rPr lang="en-US" sz="1200" dirty="0">
                <a:solidFill>
                  <a:srgbClr val="BDB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Key obtained + return to Entrance Hall.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33008" y="1737360"/>
            <a:ext cx="5501488" cy="777240"/>
          </a:xfrm>
          <a:prstGeom prst="roundRect">
            <a:avLst>
              <a:gd name="adj" fmla="val 7059"/>
            </a:avLst>
          </a:prstGeom>
          <a:solidFill>
            <a:srgbClr val="1C0E0D"/>
          </a:solidFill>
          <a:ln w="15875">
            <a:solidFill>
              <a:srgbClr val="9A3A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0168" y="173736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D98A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193128" y="1737360"/>
            <a:ext cx="44042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2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💀  GAME OVER
</a:t>
            </a:r>
            <a:r>
              <a:rPr lang="en-US" sz="1200" dirty="0">
                <a:solidFill>
                  <a:srgbClr val="BDB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reaches zero or below.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6477386"/>
              </p:ext>
            </p:extLst>
          </p:nvPr>
        </p:nvGraphicFramePr>
        <p:xfrm>
          <a:off x="457200" y="2743200"/>
          <a:ext cx="11274552" cy="2962656"/>
        </p:xfrm>
        <a:graphic>
          <a:graphicData uri="http://schemas.openxmlformats.org/drawingml/2006/table">
            <a:tbl>
              <a:tblPr/>
              <a:tblGrid>
                <a:gridCol w="6035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10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10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10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2EE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Basement without Flashlight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E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BDB2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denied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E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8FC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E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2EE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 Library puzzle answer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4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BDB2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Silver Key awarded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4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8FC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4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2EE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Ghost encounter (Kitchen / Basement)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E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BDB2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decreases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E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8FC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E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2EE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Medicine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4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BDB2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+20 HP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4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8FC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4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2EE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Med Kit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E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BDB2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+35 HP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E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8FC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E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2EE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Invalid menu input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4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BDB2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 continues safely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4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8FC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4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2EE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 Key + Entrance Hall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E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BDB2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E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8FC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E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2EE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reaches 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4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BDB2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GAME OVER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4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8FC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4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457200" y="6492240"/>
            <a:ext cx="112772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CSE115 | SECTION 4 | Group - 1 | Syed Mohammad Aqif Reza (2622644042) | Tilika Biswas (2621946042) | Humayra Mahjuba Zaman (2621387042)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6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35728" y="36576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72101E"/>
          </a:solidFill>
          <a:ln/>
        </p:spPr>
      </p:sp>
      <p:sp>
        <p:nvSpPr>
          <p:cNvPr id="3" name="Text 1"/>
          <p:cNvSpPr/>
          <p:nvPr/>
        </p:nvSpPr>
        <p:spPr>
          <a:xfrm>
            <a:off x="5135728" y="36576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 LIVE DEMO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0" y="868680"/>
            <a:ext cx="121916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2EEE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DEMO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0" y="160020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D9B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Escaping the Haunted Mansion  —  the full escape, start to finish.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73664" y="1960717"/>
            <a:ext cx="10041623" cy="4537605"/>
          </a:xfrm>
          <a:prstGeom prst="roundRect">
            <a:avLst>
              <a:gd name="adj" fmla="val 3429"/>
            </a:avLst>
          </a:prstGeom>
          <a:solidFill>
            <a:srgbClr val="1C0E0D"/>
          </a:solidFill>
          <a:ln w="19050">
            <a:solidFill>
              <a:srgbClr val="9A3A42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1737360" y="2240280"/>
            <a:ext cx="87142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</a:rPr>
              <a:t>🏚️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737360" y="3063240"/>
            <a:ext cx="87142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DB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LIVE TERMINAL / GAMEPLAY DEMO GOES HERE ]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112772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CSE115 | SECTION 4 | Group - 1 | Syed Mohammad Aqif Reza (2622644042) | Tilika Biswas (2621946042) | Humayra Mahjuba Zaman (2621387042)</a:t>
            </a:r>
            <a:endParaRPr lang="en-US" sz="1200" dirty="0"/>
          </a:p>
        </p:txBody>
      </p:sp>
      <p:pic>
        <p:nvPicPr>
          <p:cNvPr id="9" name="Demo Video">
            <a:hlinkClick r:id="" action="ppaction://media"/>
            <a:extLst>
              <a:ext uri="{FF2B5EF4-FFF2-40B4-BE49-F238E27FC236}">
                <a16:creationId xmlns:a16="http://schemas.microsoft.com/office/drawing/2014/main" id="{1D765593-8404-4B87-AD89-75EB1C74595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73664" y="1965960"/>
            <a:ext cx="10041623" cy="452627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9745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6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20824" cy="384048"/>
          </a:xfrm>
          <a:prstGeom prst="roundRect">
            <a:avLst>
              <a:gd name="adj" fmla="val 19048"/>
            </a:avLst>
          </a:prstGeom>
          <a:solidFill>
            <a:srgbClr val="72101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20208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TAKEAWAY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685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🏆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43000" y="777240"/>
            <a:ext cx="105914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2EEE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 Actually Built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161104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9B36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267712"/>
            <a:ext cx="161104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DB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068242" y="1600200"/>
            <a:ext cx="161104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9B36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068242" y="2267712"/>
            <a:ext cx="161104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DB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Puzzles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79284" y="1600200"/>
            <a:ext cx="161104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9B36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679284" y="2267712"/>
            <a:ext cx="161104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DB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BDB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290327" y="1600200"/>
            <a:ext cx="161104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9B36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5290327" y="2267712"/>
            <a:ext cx="161104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DB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BDB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Encounters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01369" y="1600200"/>
            <a:ext cx="161104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9B36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901369" y="2267712"/>
            <a:ext cx="161104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DB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Health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512411" y="1600200"/>
            <a:ext cx="161104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9B36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8512411" y="2267712"/>
            <a:ext cx="161104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DB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Game 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rgbClr val="BDB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123453" y="1600200"/>
            <a:ext cx="161104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9B36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10123453" y="2267712"/>
            <a:ext cx="161104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DB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Gameplay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BDB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2880360"/>
            <a:ext cx="112772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BDB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Structures • Arrays • Functions • Pointers • Loops • Conditionals • Switch-Case • Input Validation • Randomness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2286000" y="3520440"/>
            <a:ext cx="7619695" cy="0"/>
          </a:xfrm>
          <a:prstGeom prst="line">
            <a:avLst/>
          </a:prstGeom>
          <a:noFill/>
          <a:ln w="12700">
            <a:solidFill>
              <a:srgbClr val="3A24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0" y="3794760"/>
            <a:ext cx="121916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2EEE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DID YOU ESCAPE?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0" y="4526280"/>
            <a:ext cx="12191695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spc="50" dirty="0">
                <a:solidFill>
                  <a:srgbClr val="D9B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ROOMS.   2 PUZZLES.   1 MASTER KEY.   1 WAY OUT.</a:t>
            </a:r>
            <a:endParaRPr lang="en-US" sz="2400" b="1" dirty="0"/>
          </a:p>
        </p:txBody>
      </p:sp>
      <p:sp>
        <p:nvSpPr>
          <p:cNvPr id="24" name="Text 22"/>
          <p:cNvSpPr/>
          <p:nvPr/>
        </p:nvSpPr>
        <p:spPr>
          <a:xfrm>
            <a:off x="0" y="5029200"/>
            <a:ext cx="1219169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Escaping the Haunted Mansion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0" y="55321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B36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You.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112772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CSE115 | SECTION 4 | Group - 1 | Syed Mohammad Aqif Reza (2622644042) | Tilika Biswas (2621946042) | Humayra Mahjuba Zaman (2621387042)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483</TotalTime>
  <Words>1566</Words>
  <Application>Microsoft Office PowerPoint</Application>
  <PresentationFormat>Widescreen</PresentationFormat>
  <Paragraphs>256</Paragraphs>
  <Slides>10</Slides>
  <Notes>10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Black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Aqif Reza</cp:lastModifiedBy>
  <cp:revision>42</cp:revision>
  <dcterms:created xsi:type="dcterms:W3CDTF">2026-08-18T07:34:21Z</dcterms:created>
  <dcterms:modified xsi:type="dcterms:W3CDTF">2026-08-18T19:32:02Z</dcterms:modified>
</cp:coreProperties>
</file>